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7799f42e0_0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g3f7799f42e0_0_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https://1prime.ru/20250707/rosaviatsiya-859234906.html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https://www.rbc.ru/rbcfreenews/686b77809a7947d358ea2a72</a:t>
            </a:r>
            <a:endParaRPr/>
          </a:p>
        </p:txBody>
      </p:sp>
      <p:sp>
        <p:nvSpPr>
          <p:cNvPr id="14" name="Google Shape;14;g3f7799f42e0_0_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Начнём с масштаба одного недавнего сбоя. За двое суток с 5 по 7 июля 2025 года российские авиакомпании отменили 485 рейсов и задержали ещё 1,9 тысячи. Было оформлено 43 тысячи вынужденных возвратов. Но для пассажира проблема измеряется не только количеством рейсов. В момент отмены у него одновременно появляются три задачи: понять, чем вообще можно уехать, проверить, успеет ли он к важному времени, и разобраться со старым билетом. Данные и сервисы существуют, но в стрессовой ситуации человек собирает план вручную — между табло, поисковиками, звонками и правилами возврата. Именно эту неопределённость мы решили снять.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https://1prime.ru/20250707/rosaviatsiya-859234906.html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https://www.rbc.ru/rbcfreenews/686b77809a7947d358ea2a72</a:t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Мы анализировали не отдельные функции, а весь путь пассажира после сбоя. Авиакомпания и аэропорт дают самую надёжную информацию о конкретном рейсе, но работают только внутри своего контура. Метапоиск помогает быстро найти новый перелёт, однако его стандартная задача — цена и дата, а поддержка по старому билету остаётся отдельно. Мы не пытаемся заменить эти сервисы. Мы собираем их возможности вокруг другой пользовательской задачи: «я уже в пути, всё сломалось, мне нужно успеть к конкретному времени и понять, что делать дальше».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Наше решение называется «Успеть». Мы специально разделили проблему на две независимые ветки и собрали их в одном интерфейсе. Первая ветка отвечает только на вопрос: чем можно добраться до нужного города раньше дедлайна. Пользователь указывает, где он сейчас, куда едет и когда должен быть на месте, а затем уточняет багаж, пассажиров, бюджет и транспорт. Вторая ветка снижает тревогу вокруг исходного билета: кому позвонить, где запросить обмен или возврат, какие данные подготовить. Важно, что эти две ветки не смешиваются. Поддержка не влияет на расчёт маршрута, а поиск билетов не пытается интерпретировать права пассажира. Пользователь получает ясность по обеим задачам.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https://lllllllleo495.github.io/make-it-in-time/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 демо я ввожу три главных параметра: текущую точку, город назначения и дедлайн. На следующем экране уточняю багаж, число пассажиров, бюджет и допустимые виды транспорта. Только после валидации этих данных мы обращаемся к MCP Туту. Дальше работает строгая логика: исключаем всё, что уже отправилось, прибывает после дедлайна или нарушает выбранный бюджет и транспорт; затем удаляем дубли. Возвращаем не больше трёх разных вариантов: с максимальным запасом до дедлайна, самый выгодный и самый быстрый по длительности в рамках бюджета. Если уникальных вариантов меньше, не заполняем выдачу дублями. Каждая карточка показывает прибытие, запас времени и цену, а кнопка «Перейти» открывает предложение Туту.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https://lllllllleo495.github.io/make-it-in-time/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Local product logic: lib/search.ts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Local provider integration: lib/providers/tutu-mcp-provider.ts</a:t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Архитектура построена вокруг простого принципа: если речь идёт о дедлайне, решение должно быть воспроизводимым. React и TypeScript позволили быстро собрать понятный адаптивный интерфейс и единые контракты данных. Backend на Node и Vinext изолирует интеграцию и не раскрывает MCP браузеру. Zod повторно валидирует запрос на сервере. Tutu MCP отдаёт реальные мультитранспортные предложения и ссылку для перехода к выбранному офферу. После этого наш код ещё раз проверяет время отправления, прибытие, бюджет, транспорт и дубли. Поддержка строится из статического проверенного справочника, поэтому телефон или адрес не генерируются моделью. GitHub Pages даёт публичный интерфейс, а отдельный backend — безопасный доступ к MCP.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Local architecture: docs/ARCHITECTURE.md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Local stack versions: package.json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Local deterministic selection: lib/search.ts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Tutu MCP endpoint: https://mcp.tutu.ru/mcp</a:t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Уникальность «Успеть» не в ещё одном списке билетов. Мы закрываем две стороны одной стрессовой ситуации. Слева — новый маршрут: только те предложения, которые по расписанию дают шанс быть в нужном городе до дедлайна. Справа — старый билет: проверенные контакты авиакомпании, продавца и аэропорта, плюс понятный порядок действий. Вместо нескольких вкладок и решений наугад пассажир получает одну точку входа и два конкретных результата. Мы не обещаем управлять задержками. Мы возвращаем человеку контроль над тем, что он действительно может сделать прямо сейчас. Поэтому «Успеть» — это не просто покупка нового билета, а сервис восстановления поездки после сбоя.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https://lllllllleo495.github.io/make-it-in-time/</a:t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799f42e0_0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g3f7799f42e0_0_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Уникальность «Успеть» не в ещё одном списке билетов. Мы закрываем две стороны одной стрессовой ситуации. Слева — новый маршрут: только те предложения, которые по расписанию дают шанс быть в нужном городе до дедлайна. Справа — старый билет: проверенные контакты авиакомпании, продавца и аэропорта, плюс понятный порядок действий. Вместо нескольких вкладок и решений наугад пассажир получает одну точку входа и два конкретных результата. Мы не обещаем управлять задержками. Мы возвращаем человеку контроль над тем, что он действительно может сделать прямо сейчас. Поэтому «Успеть» — это не просто покупка нового билета, а сервис восстановления поездки после сбоя.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https://lllllllleo495.github.io/make-it-in-time/</a:t>
            </a:r>
            <a:endParaRPr/>
          </a:p>
        </p:txBody>
      </p:sp>
      <p:sp>
        <p:nvSpPr>
          <p:cNvPr id="139" name="Google Shape;139;g3f7799f42e0_0_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llllllleo495.github.io/make-it-in-time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258550" y="6191250"/>
            <a:ext cx="4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">
                <a:solidFill>
                  <a:srgbClr val="64718A"/>
                </a:solidFill>
              </a:rPr>
              <a:t>1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437213" y="2933700"/>
            <a:ext cx="990600" cy="990600"/>
          </a:xfrm>
          <a:prstGeom prst="roundRect">
            <a:avLst>
              <a:gd fmla="val 27273" name="adj"/>
            </a:avLst>
          </a:prstGeom>
          <a:solidFill>
            <a:srgbClr val="2F67EB"/>
          </a:solidFill>
          <a:ln>
            <a:noFill/>
          </a:ln>
        </p:spPr>
        <p:txBody>
          <a:bodyPr anchorCtr="0" anchor="ctr" bIns="216125" lIns="216125" spcFirstLastPara="1" rIns="216125" wrap="square" tIns="216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437213" y="3068786"/>
            <a:ext cx="9906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216125" spcFirstLastPara="1" rIns="216125" wrap="square" tIns="10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endParaRPr sz="3309"/>
          </a:p>
        </p:txBody>
      </p:sp>
      <p:sp>
        <p:nvSpPr>
          <p:cNvPr id="19" name="Google Shape;19;p3"/>
          <p:cNvSpPr txBox="1"/>
          <p:nvPr/>
        </p:nvSpPr>
        <p:spPr>
          <a:xfrm>
            <a:off x="5632888" y="2990400"/>
            <a:ext cx="2121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Успеть</a:t>
            </a:r>
            <a:endParaRPr b="1" sz="4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628650" y="428025"/>
            <a:ext cx="4000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1747AA"/>
                </a:solidFill>
                <a:latin typeface="Arial"/>
                <a:ea typeface="Arial"/>
                <a:cs typeface="Arial"/>
                <a:sym typeface="Arial"/>
              </a:rPr>
              <a:t>МОТИВ</a:t>
            </a:r>
            <a:r>
              <a:rPr b="1" lang="en-US" sz="3000">
                <a:solidFill>
                  <a:srgbClr val="1747AA"/>
                </a:solidFill>
              </a:rPr>
              <a:t>А</a:t>
            </a:r>
            <a:r>
              <a:rPr b="1" i="0" lang="en-US" sz="3000">
                <a:solidFill>
                  <a:srgbClr val="1747AA"/>
                </a:solidFill>
                <a:latin typeface="Arial"/>
                <a:ea typeface="Arial"/>
                <a:cs typeface="Arial"/>
                <a:sym typeface="Arial"/>
              </a:rPr>
              <a:t>ЦИЯ</a:t>
            </a:r>
            <a:endParaRPr sz="3000"/>
          </a:p>
        </p:txBody>
      </p:sp>
      <p:sp>
        <p:nvSpPr>
          <p:cNvPr id="26" name="Google Shape;26;p4"/>
          <p:cNvSpPr/>
          <p:nvPr/>
        </p:nvSpPr>
        <p:spPr>
          <a:xfrm>
            <a:off x="628650" y="1110300"/>
            <a:ext cx="8384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21C33"/>
                </a:solidFill>
              </a:rPr>
              <a:t>Перенос/отмена</a:t>
            </a:r>
            <a:r>
              <a:rPr b="1" i="0" lang="en-US" sz="24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 рейса превращает поездку в </a:t>
            </a:r>
            <a:r>
              <a:rPr b="1" lang="en-US" sz="2400">
                <a:solidFill>
                  <a:srgbClr val="121C33"/>
                </a:solidFill>
              </a:rPr>
              <a:t>хаос</a:t>
            </a:r>
            <a:r>
              <a:rPr lang="en-US" sz="2400"/>
              <a:t> </a:t>
            </a:r>
            <a:endParaRPr sz="2400"/>
          </a:p>
        </p:txBody>
      </p:sp>
      <p:sp>
        <p:nvSpPr>
          <p:cNvPr id="27" name="Google Shape;27;p4"/>
          <p:cNvSpPr/>
          <p:nvPr/>
        </p:nvSpPr>
        <p:spPr>
          <a:xfrm>
            <a:off x="628650" y="1701000"/>
            <a:ext cx="952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Нужно одновременно найти новый </a:t>
            </a:r>
            <a:r>
              <a:rPr lang="en-US" sz="1650">
                <a:solidFill>
                  <a:srgbClr val="64718A"/>
                </a:solidFill>
              </a:rPr>
              <a:t>маршрут</a:t>
            </a:r>
            <a:r>
              <a:rPr b="0" i="0" lang="en-US" sz="165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 и понять, что делать со старым билетом</a:t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1258550" y="61912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">
                <a:solidFill>
                  <a:srgbClr val="64718A"/>
                </a:solidFill>
              </a:rPr>
              <a:t>2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1210925" y="475725"/>
            <a:ext cx="495300" cy="495300"/>
          </a:xfrm>
          <a:prstGeom prst="roundRect">
            <a:avLst>
              <a:gd fmla="val 27273" name="adj"/>
            </a:avLst>
          </a:prstGeom>
          <a:solidFill>
            <a:srgbClr val="2F67EB"/>
          </a:solidFill>
          <a:ln>
            <a:noFill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1210925" y="543261"/>
            <a:ext cx="495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50" spcFirstLastPara="1" rIns="10805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endParaRPr sz="1654"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3225" y="2349750"/>
            <a:ext cx="6448500" cy="32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876300" y="5905500"/>
            <a:ext cx="10439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2F67EB"/>
                </a:solidFill>
              </a:rPr>
              <a:t>https://www.kommersant.ru/doc/8691614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76300" y="6200775"/>
            <a:ext cx="10439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2F67EB"/>
                </a:solidFill>
              </a:rPr>
              <a:t>https://www.insur-info.ru/pressr/92619/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647700" y="590500"/>
            <a:ext cx="41691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747AA"/>
                </a:solidFill>
              </a:rPr>
              <a:t>КОНКУРЕНТЫ</a:t>
            </a:r>
            <a:endParaRPr sz="3000"/>
          </a:p>
        </p:txBody>
      </p:sp>
      <p:sp>
        <p:nvSpPr>
          <p:cNvPr id="40" name="Google Shape;40;p5"/>
          <p:cNvSpPr/>
          <p:nvPr/>
        </p:nvSpPr>
        <p:spPr>
          <a:xfrm>
            <a:off x="609600" y="1352550"/>
            <a:ext cx="10001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21C33"/>
                </a:solidFill>
              </a:rPr>
              <a:t>Решения на р</a:t>
            </a:r>
            <a:r>
              <a:rPr b="1" i="0" lang="en-US" sz="24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ын</a:t>
            </a:r>
            <a:r>
              <a:rPr b="1" lang="en-US" sz="2400">
                <a:solidFill>
                  <a:srgbClr val="121C33"/>
                </a:solidFill>
              </a:rPr>
              <a:t>ке</a:t>
            </a:r>
            <a:r>
              <a:rPr b="1" i="0" lang="en-US" sz="24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 закрыва</a:t>
            </a:r>
            <a:r>
              <a:rPr b="1" lang="en-US" sz="2400">
                <a:solidFill>
                  <a:srgbClr val="121C33"/>
                </a:solidFill>
              </a:rPr>
              <a:t>ют</a:t>
            </a:r>
            <a:r>
              <a:rPr b="1" i="0" lang="en-US" sz="24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 части задачи 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пассажир всё равно собирает план сам</a:t>
            </a:r>
            <a:endParaRPr sz="2400"/>
          </a:p>
        </p:txBody>
      </p:sp>
      <p:sp>
        <p:nvSpPr>
          <p:cNvPr id="41" name="Google Shape;41;p5"/>
          <p:cNvSpPr/>
          <p:nvPr/>
        </p:nvSpPr>
        <p:spPr>
          <a:xfrm>
            <a:off x="1995775" y="3144750"/>
            <a:ext cx="3155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Авиакомпания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и аэропорт</a:t>
            </a:r>
            <a:endParaRPr sz="2100"/>
          </a:p>
        </p:txBody>
      </p:sp>
      <p:sp>
        <p:nvSpPr>
          <p:cNvPr id="42" name="Google Shape;42;p5"/>
          <p:cNvSpPr/>
          <p:nvPr/>
        </p:nvSpPr>
        <p:spPr>
          <a:xfrm>
            <a:off x="1995775" y="3963900"/>
            <a:ext cx="3155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Статус рейса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и помощь своему пассажиру, </a:t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5414936" y="3220950"/>
            <a:ext cx="28200" cy="1768800"/>
          </a:xfrm>
          <a:prstGeom prst="rect">
            <a:avLst/>
          </a:prstGeom>
          <a:solidFill>
            <a:srgbClr val="D7D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206751" y="3144750"/>
            <a:ext cx="3327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21C33"/>
                </a:solidFill>
              </a:rPr>
              <a:t>Агрегаторы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и метапоиск</a:t>
            </a:r>
            <a:endParaRPr sz="2100"/>
          </a:p>
        </p:txBody>
      </p:sp>
      <p:sp>
        <p:nvSpPr>
          <p:cNvPr id="45" name="Google Shape;45;p5"/>
          <p:cNvSpPr/>
          <p:nvPr/>
        </p:nvSpPr>
        <p:spPr>
          <a:xfrm>
            <a:off x="6206751" y="3963900"/>
            <a:ext cx="3327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Быстрый поиск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нового авиабилета, не аварийны</a:t>
            </a:r>
            <a:r>
              <a:rPr lang="en-US" sz="1500">
                <a:solidFill>
                  <a:srgbClr val="121C33"/>
                </a:solidFill>
              </a:rPr>
              <a:t>е сценарии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11258550" y="61912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">
                <a:solidFill>
                  <a:srgbClr val="64718A"/>
                </a:solidFill>
              </a:rPr>
              <a:t>3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1163300" y="590500"/>
            <a:ext cx="495300" cy="495300"/>
          </a:xfrm>
          <a:prstGeom prst="roundRect">
            <a:avLst>
              <a:gd fmla="val 27273" name="adj"/>
            </a:avLst>
          </a:prstGeom>
          <a:solidFill>
            <a:srgbClr val="2F67EB"/>
          </a:solidFill>
          <a:ln>
            <a:noFill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1163300" y="658036"/>
            <a:ext cx="495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50" spcFirstLastPara="1" rIns="10805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endParaRPr sz="1654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609600" y="462025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1747AA"/>
                </a:solidFill>
                <a:latin typeface="Arial"/>
                <a:ea typeface="Arial"/>
                <a:cs typeface="Arial"/>
                <a:sym typeface="Arial"/>
              </a:rPr>
              <a:t>НАШЕ РЕШЕНИЕ</a:t>
            </a:r>
            <a:endParaRPr sz="3000"/>
          </a:p>
        </p:txBody>
      </p:sp>
      <p:sp>
        <p:nvSpPr>
          <p:cNvPr id="55" name="Google Shape;55;p6"/>
          <p:cNvSpPr/>
          <p:nvPr/>
        </p:nvSpPr>
        <p:spPr>
          <a:xfrm>
            <a:off x="609600" y="1352550"/>
            <a:ext cx="6858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«Успеть» соединяет два решения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в одном спокойном сценарии</a:t>
            </a:r>
            <a:endParaRPr sz="2400"/>
          </a:p>
        </p:txBody>
      </p:sp>
      <p:sp>
        <p:nvSpPr>
          <p:cNvPr id="56" name="Google Shape;56;p6"/>
          <p:cNvSpPr/>
          <p:nvPr/>
        </p:nvSpPr>
        <p:spPr>
          <a:xfrm>
            <a:off x="820850" y="2819400"/>
            <a:ext cx="74400" cy="3105300"/>
          </a:xfrm>
          <a:prstGeom prst="rect">
            <a:avLst/>
          </a:prstGeom>
          <a:solidFill>
            <a:srgbClr val="2F6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1123950" y="2762250"/>
            <a:ext cx="666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F67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123950" y="318135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Успеть к дедлайну</a:t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1123950" y="3638550"/>
            <a:ext cx="342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До трёх разных маршрутов добраться до </a:t>
            </a:r>
            <a:r>
              <a:rPr lang="en-US" sz="1425">
                <a:solidFill>
                  <a:srgbClr val="64718A"/>
                </a:solidFill>
              </a:rPr>
              <a:t>места</a:t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1123950" y="4343400"/>
            <a:ext cx="666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67EB"/>
                </a:solidFill>
              </a:rPr>
              <a:t>02</a:t>
            </a:r>
            <a:endParaRPr b="1" sz="1800">
              <a:solidFill>
                <a:srgbClr val="2F67EB"/>
              </a:solidFill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123950" y="4762500"/>
            <a:ext cx="3714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Разобраться со старым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билетом</a:t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1123950" y="5429250"/>
            <a:ext cx="3714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Проверенные контакты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и короткий план действий</a:t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11258550" y="61912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">
                <a:solidFill>
                  <a:srgbClr val="64718A"/>
                </a:solidFill>
              </a:rPr>
              <a:t>4</a:t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11210925" y="462025"/>
            <a:ext cx="495300" cy="495300"/>
          </a:xfrm>
          <a:prstGeom prst="roundRect">
            <a:avLst>
              <a:gd fmla="val 27273" name="adj"/>
            </a:avLst>
          </a:prstGeom>
          <a:solidFill>
            <a:srgbClr val="2F67EB"/>
          </a:solidFill>
          <a:ln>
            <a:noFill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11210925" y="529561"/>
            <a:ext cx="495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50" spcFirstLastPara="1" rIns="10805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endParaRPr sz="1654"/>
          </a:p>
        </p:txBody>
      </p:sp>
      <p:pic>
        <p:nvPicPr>
          <p:cNvPr id="66" name="Google Shape;6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0" y="2473038"/>
            <a:ext cx="6115052" cy="379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609600" y="523875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1747AA"/>
                </a:solidFill>
                <a:latin typeface="Arial"/>
                <a:ea typeface="Arial"/>
                <a:cs typeface="Arial"/>
                <a:sym typeface="Arial"/>
              </a:rPr>
              <a:t>UX / UI</a:t>
            </a:r>
            <a:endParaRPr sz="3000"/>
          </a:p>
        </p:txBody>
      </p:sp>
      <p:sp>
        <p:nvSpPr>
          <p:cNvPr id="73" name="Google Shape;73;p7"/>
          <p:cNvSpPr/>
          <p:nvPr/>
        </p:nvSpPr>
        <p:spPr>
          <a:xfrm>
            <a:off x="609600" y="1352550"/>
            <a:ext cx="990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От тревоги до понятного плана — за три шага</a:t>
            </a:r>
            <a:endParaRPr sz="2400"/>
          </a:p>
        </p:txBody>
      </p:sp>
      <p:sp>
        <p:nvSpPr>
          <p:cNvPr id="74" name="Google Shape;74;p7"/>
          <p:cNvSpPr/>
          <p:nvPr/>
        </p:nvSpPr>
        <p:spPr>
          <a:xfrm>
            <a:off x="552450" y="5105400"/>
            <a:ext cx="3505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747AA"/>
                </a:solidFill>
                <a:latin typeface="Arial"/>
                <a:ea typeface="Arial"/>
                <a:cs typeface="Arial"/>
                <a:sym typeface="Arial"/>
              </a:rPr>
              <a:t>Уточняем условия</a:t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4305300" y="5105400"/>
            <a:ext cx="3505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747AA"/>
                </a:solidFill>
                <a:latin typeface="Arial"/>
                <a:ea typeface="Arial"/>
                <a:cs typeface="Arial"/>
                <a:sym typeface="Arial"/>
              </a:rPr>
              <a:t>Сверяем дедлайн</a:t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8058150" y="5105400"/>
            <a:ext cx="3505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47AA"/>
                </a:solidFill>
              </a:rPr>
              <a:t>Показываем варианты</a:t>
            </a:r>
            <a:endParaRPr b="1" sz="1500">
              <a:solidFill>
                <a:srgbClr val="1747AA"/>
              </a:solidFill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3981450" y="333375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>
                <a:solidFill>
                  <a:srgbClr val="2F67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7734300" y="333375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>
                <a:solidFill>
                  <a:srgbClr val="2F67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609600" y="1924050"/>
            <a:ext cx="4191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 u="sng">
                <a:solidFill>
                  <a:schemeClr val="hlink"/>
                </a:solidFill>
                <a:hlinkClick r:id="rId3"/>
              </a:rPr>
              <a:t>Переход к продукту</a:t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11258550" y="61912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">
                <a:solidFill>
                  <a:srgbClr val="64718A"/>
                </a:solidFill>
              </a:rPr>
              <a:t>5</a:t>
            </a:r>
            <a:endParaRPr b="1" sz="1200">
              <a:solidFill>
                <a:srgbClr val="64718A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4718A"/>
              </a:solidFill>
            </a:endParaRPr>
          </a:p>
        </p:txBody>
      </p:sp>
      <p:pic>
        <p:nvPicPr>
          <p:cNvPr id="81" name="Google Shape;8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100" y="2524125"/>
            <a:ext cx="3414257" cy="213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0550" y="2457450"/>
            <a:ext cx="3505198" cy="2189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7700" y="2524125"/>
            <a:ext cx="3124198" cy="21355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"/>
          <p:cNvSpPr/>
          <p:nvPr/>
        </p:nvSpPr>
        <p:spPr>
          <a:xfrm>
            <a:off x="11068050" y="523875"/>
            <a:ext cx="495300" cy="495300"/>
          </a:xfrm>
          <a:prstGeom prst="roundRect">
            <a:avLst>
              <a:gd fmla="val 27273" name="adj"/>
            </a:avLst>
          </a:prstGeom>
          <a:solidFill>
            <a:srgbClr val="2F67EB"/>
          </a:solidFill>
          <a:ln>
            <a:noFill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11068050" y="591411"/>
            <a:ext cx="495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50" spcFirstLastPara="1" rIns="10805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endParaRPr sz="1654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A5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609600" y="533250"/>
            <a:ext cx="7890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ТЕХНИЧЕСКАЯ РЕАЛИЗАЦИЯ</a:t>
            </a:r>
            <a:endParaRPr sz="3000"/>
          </a:p>
        </p:txBody>
      </p:sp>
      <p:sp>
        <p:nvSpPr>
          <p:cNvPr id="92" name="Google Shape;92;p8"/>
          <p:cNvSpPr/>
          <p:nvPr/>
        </p:nvSpPr>
        <p:spPr>
          <a:xfrm>
            <a:off x="2990125" y="2200275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5961925" y="2200275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8990875" y="2200275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742225" y="1790700"/>
            <a:ext cx="2247900" cy="1276500"/>
          </a:xfrm>
          <a:prstGeom prst="roundRect">
            <a:avLst>
              <a:gd fmla="val 89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913675" y="2019300"/>
            <a:ext cx="1905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Веб-интерфейс</a:t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913675" y="2457450"/>
            <a:ext cx="1905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React + TypeScript</a:t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3561625" y="1790700"/>
            <a:ext cx="2400300" cy="1276500"/>
          </a:xfrm>
          <a:prstGeom prst="roundRect">
            <a:avLst>
              <a:gd fmla="val 89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3733075" y="2019300"/>
            <a:ext cx="2057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Backend API</a:t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3733075" y="2457450"/>
            <a:ext cx="2057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Node + Vinext + Zod</a:t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6571525" y="1790700"/>
            <a:ext cx="2419500" cy="1276500"/>
          </a:xfrm>
          <a:prstGeom prst="roundRect">
            <a:avLst>
              <a:gd fmla="val 89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6742975" y="2019300"/>
            <a:ext cx="2076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>
                <a:solidFill>
                  <a:srgbClr val="121C33"/>
                </a:solidFill>
                <a:latin typeface="Arial"/>
                <a:ea typeface="Arial"/>
                <a:cs typeface="Arial"/>
                <a:sym typeface="Arial"/>
              </a:rPr>
              <a:t>Tutu MCP</a:t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6742975" y="2457450"/>
            <a:ext cx="2076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Реальные билеты и checkout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9600475" y="1790700"/>
            <a:ext cx="2114700" cy="1276500"/>
          </a:xfrm>
          <a:prstGeom prst="roundRect">
            <a:avLst>
              <a:gd fmla="val 89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10037100" y="1885950"/>
            <a:ext cx="1621500" cy="590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Правила отбора</a:t>
            </a:r>
            <a:endParaRPr b="1" sz="1700"/>
          </a:p>
        </p:txBody>
      </p:sp>
      <p:sp>
        <p:nvSpPr>
          <p:cNvPr id="106" name="Google Shape;106;p8"/>
          <p:cNvSpPr/>
          <p:nvPr/>
        </p:nvSpPr>
        <p:spPr>
          <a:xfrm>
            <a:off x="9771925" y="2571750"/>
            <a:ext cx="17718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4718A"/>
                </a:solidFill>
              </a:rPr>
              <a:t>Дедлайн, бюджет, дубли</a:t>
            </a:r>
            <a:endParaRPr>
              <a:solidFill>
                <a:srgbClr val="64718A"/>
              </a:solidFill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742225" y="3581400"/>
            <a:ext cx="200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Почему так</a:t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742225" y="4133850"/>
            <a:ext cx="2667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Быстрый UX</a:t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742225" y="4533900"/>
            <a:ext cx="3048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Интерфейс остаётся лёгким и </a:t>
            </a:r>
            <a:r>
              <a:rPr lang="en-US" sz="1350">
                <a:solidFill>
                  <a:srgbClr val="AFC7FF"/>
                </a:solidFill>
              </a:rPr>
              <a:t>понятным</a:t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3961675" y="4076700"/>
            <a:ext cx="19200" cy="990600"/>
          </a:xfrm>
          <a:prstGeom prst="rect">
            <a:avLst/>
          </a:prstGeom>
          <a:solidFill>
            <a:srgbClr val="AFC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4304575" y="4133850"/>
            <a:ext cx="295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Проверяемый дедлайн</a:t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4304575" y="4533900"/>
            <a:ext cx="3048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Время сравнивает детерминированная логика</a:t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7619275" y="4076700"/>
            <a:ext cx="19200" cy="990600"/>
          </a:xfrm>
          <a:prstGeom prst="rect">
            <a:avLst/>
          </a:prstGeom>
          <a:solidFill>
            <a:srgbClr val="AFC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7981225" y="4133850"/>
            <a:ext cx="323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Проверенные источники</a:t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7981225" y="4533900"/>
            <a:ext cx="323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Поддержка строится по проверенному справочнику</a:t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11258550" y="61912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">
                <a:solidFill>
                  <a:srgbClr val="AFC7FF"/>
                </a:solidFill>
              </a:rPr>
              <a:t>6</a:t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11163300" y="419100"/>
            <a:ext cx="495300" cy="495300"/>
          </a:xfrm>
          <a:prstGeom prst="roundRect">
            <a:avLst>
              <a:gd fmla="val 27273" name="adj"/>
            </a:avLst>
          </a:prstGeom>
          <a:solidFill>
            <a:srgbClr val="2F67EB"/>
          </a:solidFill>
          <a:ln>
            <a:noFill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11163300" y="486636"/>
            <a:ext cx="495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50" spcFirstLastPara="1" rIns="10805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endParaRPr sz="1654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A5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609600" y="666975"/>
            <a:ext cx="4286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ГЛАВНОЕ</a:t>
            </a:r>
            <a:endParaRPr sz="3000"/>
          </a:p>
        </p:txBody>
      </p:sp>
      <p:sp>
        <p:nvSpPr>
          <p:cNvPr id="125" name="Google Shape;125;p9"/>
          <p:cNvSpPr/>
          <p:nvPr/>
        </p:nvSpPr>
        <p:spPr>
          <a:xfrm>
            <a:off x="609600" y="1409700"/>
            <a:ext cx="66849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AFC7FF"/>
                </a:solidFill>
              </a:rPr>
              <a:t>Одна точка входа в стрессовой ситуации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25">
              <a:solidFill>
                <a:srgbClr val="FFFFFF"/>
              </a:solidFill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09600" y="3143250"/>
            <a:ext cx="4562700" cy="171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914400" y="3486150"/>
            <a:ext cx="342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5">
                <a:solidFill>
                  <a:srgbClr val="1747AA"/>
                </a:solidFill>
                <a:latin typeface="Arial"/>
                <a:ea typeface="Arial"/>
                <a:cs typeface="Arial"/>
                <a:sym typeface="Arial"/>
              </a:rPr>
              <a:t>Новый маршрут</a:t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914400" y="4038600"/>
            <a:ext cx="333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Билеты, которые прибывают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до дедлайна</a:t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5172300" y="3619500"/>
            <a:ext cx="857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6019800" y="3143250"/>
            <a:ext cx="5562600" cy="1714500"/>
          </a:xfrm>
          <a:prstGeom prst="roundRect">
            <a:avLst>
              <a:gd fmla="val 8889" name="adj"/>
            </a:avLst>
          </a:prstGeom>
          <a:solidFill>
            <a:srgbClr val="E8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6381750" y="348615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E7A56"/>
                </a:solidFill>
              </a:rPr>
              <a:t>Инструкция действий</a:t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6381750" y="4038600"/>
            <a:ext cx="4286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Проверенные контакты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64718A"/>
                </a:solidFill>
                <a:latin typeface="Arial"/>
                <a:ea typeface="Arial"/>
                <a:cs typeface="Arial"/>
                <a:sym typeface="Arial"/>
              </a:rPr>
              <a:t>и короткий план действий</a:t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11258550" y="619125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AFC7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200">
                <a:solidFill>
                  <a:srgbClr val="AFC7FF"/>
                </a:solidFill>
              </a:rPr>
              <a:t>7</a:t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11087100" y="664575"/>
            <a:ext cx="495300" cy="495300"/>
          </a:xfrm>
          <a:prstGeom prst="roundRect">
            <a:avLst>
              <a:gd fmla="val 27273" name="adj"/>
            </a:avLst>
          </a:prstGeom>
          <a:solidFill>
            <a:srgbClr val="2F67EB"/>
          </a:solidFill>
          <a:ln>
            <a:noFill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11087100" y="732111"/>
            <a:ext cx="495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50" spcFirstLastPara="1" rIns="108050" wrap="square" tIns="5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endParaRPr sz="1654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2135850" y="2952750"/>
            <a:ext cx="7920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    </a:t>
            </a:r>
            <a:r>
              <a:rPr b="1" lang="en-US" sz="4500"/>
              <a:t>Спасибо за внимание! </a:t>
            </a:r>
            <a:endParaRPr b="1"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